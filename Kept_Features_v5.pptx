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15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48322"/>
          </a:solidFill>
          <a:ln w="12700">
            <a:solidFill>
              <a:srgbClr val="F483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82296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0" b="1" spc="-320" kern="0" dirty="0">
                <a:solidFill>
                  <a:srgbClr val="C3EC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KEPT.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502920" y="214884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spc="-80" kern="0" dirty="0">
                <a:solidFill>
                  <a:srgbClr val="C3EC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Search, archive, and recall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spc="-80" kern="0" dirty="0">
                <a:solidFill>
                  <a:srgbClr val="C3EC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your AI conversations.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2999232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72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Four features. One tool. Built for developers who live across AI platforms.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023360"/>
            <a:ext cx="1261872" cy="685800"/>
          </a:xfrm>
          <a:prstGeom prst="rect">
            <a:avLst/>
          </a:prstGeom>
          <a:solidFill>
            <a:srgbClr val="071318"/>
          </a:solidFill>
          <a:ln w="6350">
            <a:solidFill>
              <a:srgbClr val="193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4023360"/>
            <a:ext cx="1261872" cy="27432"/>
          </a:xfrm>
          <a:prstGeom prst="rect">
            <a:avLst/>
          </a:prstGeom>
          <a:solidFill>
            <a:srgbClr val="F48322"/>
          </a:solidFill>
          <a:ln w="12700">
            <a:solidFill>
              <a:srgbClr val="F483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050792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spc="-72" kern="0" dirty="0">
                <a:solidFill>
                  <a:srgbClr val="F483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MB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4379976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spc="8" kern="0" dirty="0">
                <a:solidFill>
                  <a:srgbClr val="5B72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binary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892808" y="4023360"/>
            <a:ext cx="1261872" cy="685800"/>
          </a:xfrm>
          <a:prstGeom prst="rect">
            <a:avLst/>
          </a:prstGeom>
          <a:solidFill>
            <a:srgbClr val="071318"/>
          </a:solidFill>
          <a:ln w="6350">
            <a:solidFill>
              <a:srgbClr val="1930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92808" y="4023360"/>
            <a:ext cx="1261872" cy="274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92808" y="4050792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spc="-72" kern="0" dirty="0">
                <a:solidFill>
                  <a:srgbClr val="34D3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92808" y="4379976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spc="8" kern="0" dirty="0">
                <a:solidFill>
                  <a:srgbClr val="5B72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82696" y="4023360"/>
            <a:ext cx="1261872" cy="685800"/>
          </a:xfrm>
          <a:prstGeom prst="rect">
            <a:avLst/>
          </a:prstGeom>
          <a:solidFill>
            <a:srgbClr val="071318"/>
          </a:solidFill>
          <a:ln w="6350">
            <a:solidFill>
              <a:srgbClr val="1930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82696" y="4023360"/>
            <a:ext cx="1261872" cy="27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82696" y="4050792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spc="-72" kern="0" dirty="0">
                <a:solidFill>
                  <a:srgbClr val="0891B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82696" y="4379976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spc="8" kern="0" dirty="0">
                <a:solidFill>
                  <a:srgbClr val="5B72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licensed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72584" y="4023360"/>
            <a:ext cx="1261872" cy="685800"/>
          </a:xfrm>
          <a:prstGeom prst="rect">
            <a:avLst/>
          </a:prstGeom>
          <a:solidFill>
            <a:srgbClr val="071318"/>
          </a:solidFill>
          <a:ln w="6350">
            <a:solidFill>
              <a:srgbClr val="193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72584" y="4023360"/>
            <a:ext cx="1261872" cy="27432"/>
          </a:xfrm>
          <a:prstGeom prst="rect">
            <a:avLst/>
          </a:prstGeom>
          <a:solidFill>
            <a:srgbClr val="F48322"/>
          </a:solidFill>
          <a:ln w="12700">
            <a:solidFill>
              <a:srgbClr val="F483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72584" y="4050792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spc="-72" kern="0" dirty="0">
                <a:solidFill>
                  <a:srgbClr val="F483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672584" y="4379976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spc="8" kern="0" dirty="0">
                <a:solidFill>
                  <a:srgbClr val="5B72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 start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675120" y="86868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spc="8" kern="0" dirty="0">
                <a:solidFill>
                  <a:srgbClr val="5B72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PLATFORMS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675120" y="1115568"/>
            <a:ext cx="2103120" cy="457200"/>
          </a:xfrm>
          <a:prstGeom prst="rect">
            <a:avLst/>
          </a:prstGeom>
          <a:solidFill>
            <a:srgbClr val="071318"/>
          </a:solidFill>
          <a:ln w="6350">
            <a:solidFill>
              <a:srgbClr val="1930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03136" y="1234440"/>
            <a:ext cx="219456" cy="219456"/>
          </a:xfrm>
          <a:prstGeom prst="oval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77456" y="1115568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3EC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ChatGPT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75120" y="1700784"/>
            <a:ext cx="2103120" cy="457200"/>
          </a:xfrm>
          <a:prstGeom prst="rect">
            <a:avLst/>
          </a:prstGeom>
          <a:solidFill>
            <a:srgbClr val="071318"/>
          </a:solidFill>
          <a:ln w="6350">
            <a:solidFill>
              <a:srgbClr val="19304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03136" y="1819656"/>
            <a:ext cx="219456" cy="219456"/>
          </a:xfrm>
          <a:prstGeom prst="oval">
            <a:avLst/>
          </a:prstGeom>
          <a:solidFill>
            <a:srgbClr val="D4A27F"/>
          </a:solidFill>
          <a:ln w="12700">
            <a:solidFill>
              <a:srgbClr val="D4A27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77456" y="1700784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3EC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Claude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675120" y="2286000"/>
            <a:ext cx="2103120" cy="457200"/>
          </a:xfrm>
          <a:prstGeom prst="rect">
            <a:avLst/>
          </a:prstGeom>
          <a:solidFill>
            <a:srgbClr val="071318"/>
          </a:solidFill>
          <a:ln w="6350">
            <a:solidFill>
              <a:srgbClr val="1930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03136" y="2404872"/>
            <a:ext cx="219456" cy="219456"/>
          </a:xfrm>
          <a:prstGeom prst="oval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77456" y="2286000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3EC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Gemini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675120" y="2871216"/>
            <a:ext cx="2103120" cy="457200"/>
          </a:xfrm>
          <a:prstGeom prst="rect">
            <a:avLst/>
          </a:prstGeom>
          <a:solidFill>
            <a:srgbClr val="071318"/>
          </a:solidFill>
          <a:ln w="6350">
            <a:solidFill>
              <a:srgbClr val="19304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03136" y="2990088"/>
            <a:ext cx="219456" cy="219456"/>
          </a:xfrm>
          <a:prstGeom prst="oval">
            <a:avLst/>
          </a:prstGeom>
          <a:solidFill>
            <a:srgbClr val="5B727C"/>
          </a:solidFill>
          <a:ln w="12700">
            <a:solidFill>
              <a:srgbClr val="5B727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77456" y="2871216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3EC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Grok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675120" y="3456432"/>
            <a:ext cx="2103120" cy="457200"/>
          </a:xfrm>
          <a:prstGeom prst="rect">
            <a:avLst/>
          </a:prstGeom>
          <a:solidFill>
            <a:srgbClr val="071318"/>
          </a:solidFill>
          <a:ln w="6350">
            <a:solidFill>
              <a:srgbClr val="19304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03136" y="3575304"/>
            <a:ext cx="219456" cy="219456"/>
          </a:xfrm>
          <a:prstGeom prst="oval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77456" y="3456432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3EC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Kimi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675120" y="482803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spc="8" kern="0" dirty="0">
                <a:solidFill>
                  <a:srgbClr val="3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kept.work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900" b="1" spc="200" kern="0" dirty="0">
                <a:solidFill>
                  <a:srgbClr val="5B72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FOUR FEATURES. ONE TOOL.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spc="-88" kern="0" dirty="0">
                <a:solidFill>
                  <a:srgbClr val="C3EC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Everything you need to own your AI work.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52144"/>
            <a:ext cx="4114800" cy="1627632"/>
          </a:xfrm>
          <a:prstGeom prst="rect">
            <a:avLst/>
          </a:prstGeom>
          <a:solidFill>
            <a:srgbClr val="071318"/>
          </a:solidFill>
          <a:ln w="6350">
            <a:solidFill>
              <a:srgbClr val="19304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52144"/>
            <a:ext cx="50292" cy="16276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24358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00" spc="8" kern="0" dirty="0">
                <a:solidFill>
                  <a:srgbClr val="5B72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30352" y="142646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spc="-56" kern="0" dirty="0">
                <a:solidFill>
                  <a:srgbClr val="C3EC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Smart Capture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" y="1810512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72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Type @kept in any chat to save instantly. Auto-sync across ChatGPT, Claude, Gemini, Grok, and Kimi.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950208" y="1261872"/>
            <a:ext cx="464515" cy="182880"/>
          </a:xfrm>
          <a:prstGeom prst="rect">
            <a:avLst/>
          </a:prstGeom>
          <a:solidFill>
            <a:srgbClr val="0D6B47"/>
          </a:solidFill>
          <a:ln w="12700">
            <a:solidFill>
              <a:srgbClr val="0D6B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50208" y="1261872"/>
            <a:ext cx="46451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b="1" spc="7" kern="0" dirty="0">
                <a:solidFill>
                  <a:srgbClr val="34D3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709160" y="1152144"/>
            <a:ext cx="4114800" cy="1627632"/>
          </a:xfrm>
          <a:prstGeom prst="rect">
            <a:avLst/>
          </a:prstGeom>
          <a:solidFill>
            <a:srgbClr val="071318"/>
          </a:solidFill>
          <a:ln w="6350">
            <a:solidFill>
              <a:srgbClr val="19304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152144"/>
            <a:ext cx="50292" cy="1627632"/>
          </a:xfrm>
          <a:prstGeom prst="rect">
            <a:avLst/>
          </a:prstGeom>
          <a:solidFill>
            <a:srgbClr val="F48322"/>
          </a:solidFill>
          <a:ln w="12700">
            <a:solidFill>
              <a:srgbClr val="F483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24358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00" spc="8" kern="0" dirty="0">
                <a:solidFill>
                  <a:srgbClr val="5B72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73752" y="142646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spc="-56" kern="0" dirty="0">
                <a:solidFill>
                  <a:srgbClr val="C3EC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Smart Recall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73752" y="1810512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72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Ask questions about your full archive. Semantic search that finds answers even without exact words.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348472" y="1261872"/>
            <a:ext cx="398678" cy="182880"/>
          </a:xfrm>
          <a:prstGeom prst="rect">
            <a:avLst/>
          </a:prstGeom>
          <a:solidFill>
            <a:srgbClr val="3C220C"/>
          </a:solidFill>
          <a:ln w="12700">
            <a:solidFill>
              <a:srgbClr val="3C22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48472" y="1261872"/>
            <a:ext cx="39867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b="1" spc="7" kern="0" dirty="0">
                <a:solidFill>
                  <a:srgbClr val="F483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65760" y="2935224"/>
            <a:ext cx="4114800" cy="1627632"/>
          </a:xfrm>
          <a:prstGeom prst="rect">
            <a:avLst/>
          </a:prstGeom>
          <a:solidFill>
            <a:srgbClr val="071318"/>
          </a:solidFill>
          <a:ln w="6350">
            <a:solidFill>
              <a:srgbClr val="19304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935224"/>
            <a:ext cx="50292" cy="16276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02666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00" spc="8" kern="0" dirty="0">
                <a:solidFill>
                  <a:srgbClr val="5B72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30352" y="320954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spc="-56" kern="0" dirty="0">
                <a:solidFill>
                  <a:srgbClr val="C3EC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Claude Code Manager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0352" y="3593592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72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Browse every Claude Code project. Skills, memory files, and templates in one place. Nothing like it exists.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950208" y="3044952"/>
            <a:ext cx="464515" cy="182880"/>
          </a:xfrm>
          <a:prstGeom prst="rect">
            <a:avLst/>
          </a:prstGeom>
          <a:solidFill>
            <a:srgbClr val="0D6B47"/>
          </a:solidFill>
          <a:ln w="12700">
            <a:solidFill>
              <a:srgbClr val="0D6B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50208" y="3044952"/>
            <a:ext cx="46451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b="1" spc="7" kern="0" dirty="0">
                <a:solidFill>
                  <a:srgbClr val="34D3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709160" y="2935224"/>
            <a:ext cx="4114800" cy="1627632"/>
          </a:xfrm>
          <a:prstGeom prst="rect">
            <a:avLst/>
          </a:prstGeom>
          <a:solidFill>
            <a:srgbClr val="071318"/>
          </a:solidFill>
          <a:ln w="6350">
            <a:solidFill>
              <a:srgbClr val="19304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935224"/>
            <a:ext cx="50292" cy="1627632"/>
          </a:xfrm>
          <a:prstGeom prst="rect">
            <a:avLst/>
          </a:prstGeom>
          <a:solidFill>
            <a:srgbClr val="F9A05C"/>
          </a:solidFill>
          <a:ln w="12700">
            <a:solidFill>
              <a:srgbClr val="F9A0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302666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00" spc="8" kern="0" dirty="0">
                <a:solidFill>
                  <a:srgbClr val="5B72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73752" y="320954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spc="-56" kern="0" dirty="0">
                <a:solidFill>
                  <a:srgbClr val="C3EC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3D Knowledge Graph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73752" y="3593592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72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Automatic extraction of people, decisions, and facts. 3D graph. Arcs auto-group related conversations.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348472" y="3044952"/>
            <a:ext cx="398678" cy="182880"/>
          </a:xfrm>
          <a:prstGeom prst="rect">
            <a:avLst/>
          </a:prstGeom>
          <a:solidFill>
            <a:srgbClr val="3C220C"/>
          </a:solidFill>
          <a:ln w="12700">
            <a:solidFill>
              <a:srgbClr val="3C220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48472" y="3044952"/>
            <a:ext cx="39867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b="1" spc="7" kern="0" dirty="0">
                <a:solidFill>
                  <a:srgbClr val="F483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0" y="489204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spc="8" kern="0" dirty="0">
                <a:solidFill>
                  <a:srgbClr val="3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  ·  Open source  ·  Local-first  ·  MIT licensed  ·  kept.work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900" b="1" spc="200" kern="0" dirty="0">
                <a:solidFill>
                  <a:srgbClr val="F483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93776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spc="-96" kern="0" dirty="0">
                <a:solidFill>
                  <a:srgbClr val="C3EC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Your best thinking is scattered.</a:t>
            </a:r>
            <a:endParaRPr lang="en-US" sz="2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400" spc="-96" kern="0" dirty="0">
                <a:solidFill>
                  <a:srgbClr val="C3EC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Across every platform.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4069080" cy="1389888"/>
          </a:xfrm>
          <a:prstGeom prst="rect">
            <a:avLst/>
          </a:prstGeom>
          <a:solidFill>
            <a:srgbClr val="071318"/>
          </a:solidFill>
          <a:ln w="6350">
            <a:solidFill>
              <a:srgbClr val="19304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508760"/>
            <a:ext cx="50292" cy="13898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6002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750" b="1" spc="200" kern="0" dirty="0">
                <a:solidFill>
                  <a:srgbClr val="0891B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SEARCH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30352" y="1856232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C3EC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"Which platform had that conversation?"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508760"/>
            <a:ext cx="4069080" cy="1389888"/>
          </a:xfrm>
          <a:prstGeom prst="rect">
            <a:avLst/>
          </a:prstGeom>
          <a:solidFill>
            <a:srgbClr val="071318"/>
          </a:solidFill>
          <a:ln w="6350">
            <a:solidFill>
              <a:srgbClr val="19304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508760"/>
            <a:ext cx="50292" cy="138988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73752" y="16002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750" b="1" spc="200" kern="0" dirty="0">
                <a:solidFill>
                  <a:srgbClr val="34D3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CONTEXT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873752" y="1856232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C3EC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"I have to re-explain my project every time I open a chat."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081528"/>
            <a:ext cx="4069080" cy="1389888"/>
          </a:xfrm>
          <a:prstGeom prst="rect">
            <a:avLst/>
          </a:prstGeom>
          <a:solidFill>
            <a:srgbClr val="071318"/>
          </a:solidFill>
          <a:ln w="6350">
            <a:solidFill>
              <a:srgbClr val="19304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081528"/>
            <a:ext cx="50292" cy="1389888"/>
          </a:xfrm>
          <a:prstGeom prst="rect">
            <a:avLst/>
          </a:prstGeom>
          <a:solidFill>
            <a:srgbClr val="F48322"/>
          </a:solidFill>
          <a:ln w="12700">
            <a:solidFill>
              <a:srgbClr val="F483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317296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750" b="1" spc="200" kern="0" dirty="0">
                <a:solidFill>
                  <a:srgbClr val="F483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PORTABILITY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30352" y="3429000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C3EC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"I want Claude's take on what I've been doing in ChatGPT."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3081528"/>
            <a:ext cx="4069080" cy="1389888"/>
          </a:xfrm>
          <a:prstGeom prst="rect">
            <a:avLst/>
          </a:prstGeom>
          <a:solidFill>
            <a:srgbClr val="071318"/>
          </a:solidFill>
          <a:ln w="6350">
            <a:solidFill>
              <a:srgbClr val="19304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3081528"/>
            <a:ext cx="50292" cy="1389888"/>
          </a:xfrm>
          <a:prstGeom prst="rect">
            <a:avLst/>
          </a:prstGeom>
          <a:solidFill>
            <a:srgbClr val="F9A05C"/>
          </a:solidFill>
          <a:ln w="12700">
            <a:solidFill>
              <a:srgbClr val="F9A0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317296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750" b="1" spc="200" kern="0" dirty="0">
                <a:solidFill>
                  <a:srgbClr val="F9A0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MEMORY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73752" y="3429000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C3EC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"That decision was in a chat somewhere. Now it's just gone."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0" y="489204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spc="8" kern="0" dirty="0">
                <a:solidFill>
                  <a:srgbClr val="3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kept.work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19456"/>
            <a:ext cx="402336" cy="402336"/>
          </a:xfrm>
          <a:prstGeom prst="oval">
            <a:avLst/>
          </a:prstGeom>
          <a:solidFill>
            <a:srgbClr val="0D6B47"/>
          </a:solidFill>
          <a:ln w="1016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194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spc="10" kern="0" dirty="0">
                <a:solidFill>
                  <a:srgbClr val="34D3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9264" y="21945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50" b="1" spc="200" kern="0" dirty="0">
                <a:solidFill>
                  <a:srgbClr val="34D3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SMART CAPTURE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969264" y="457200"/>
            <a:ext cx="464515" cy="182880"/>
          </a:xfrm>
          <a:prstGeom prst="rect">
            <a:avLst/>
          </a:prstGeom>
          <a:solidFill>
            <a:srgbClr val="0D6B47"/>
          </a:solidFill>
          <a:ln w="12700">
            <a:solidFill>
              <a:srgbClr val="0D6B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457200"/>
            <a:ext cx="46451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b="1" spc="7" kern="0" dirty="0">
                <a:solidFill>
                  <a:srgbClr val="34D3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84048" y="804672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spc="-104" kern="0" dirty="0">
                <a:solidFill>
                  <a:srgbClr val="C3EC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Save any conversation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spc="-104" kern="0" dirty="0">
                <a:solidFill>
                  <a:srgbClr val="C3EC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instantly with @kept.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4023360" cy="2450592"/>
          </a:xfrm>
          <a:prstGeom prst="rect">
            <a:avLst/>
          </a:prstGeom>
          <a:solidFill>
            <a:srgbClr val="071318"/>
          </a:solidFill>
          <a:ln w="6350">
            <a:solidFill>
              <a:srgbClr val="19304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828800"/>
            <a:ext cx="50292" cy="245059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9202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750" b="1" spc="150" kern="0" dirty="0">
                <a:solidFill>
                  <a:srgbClr val="34D3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IT DOES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30352" y="2176272"/>
            <a:ext cx="36576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B72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Type @kept in any chat for one-click save, or let auto-sync handle it in the background. Flexible: save a full chat, the last few messages, or a specific branch. Works across ChatGPT, Claude, Gemini, Grok, and Kimi. No duplicates tracked automatically. Bulk import from platform data exports also supported.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1828800"/>
            <a:ext cx="4023360" cy="2450592"/>
          </a:xfrm>
          <a:prstGeom prst="rect">
            <a:avLst/>
          </a:prstGeom>
          <a:solidFill>
            <a:srgbClr val="071318"/>
          </a:solidFill>
          <a:ln w="6350">
            <a:solidFill>
              <a:srgbClr val="19304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828800"/>
            <a:ext cx="50292" cy="2450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3752" y="19202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750" b="1" spc="150" kern="0" dirty="0">
                <a:solidFill>
                  <a:srgbClr val="0891B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IT MATTERS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873752" y="2176272"/>
            <a:ext cx="36576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B72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Your best thinking is spread across five platforms and every conversation ends with the insight gone. Smart Capture makes saving frictionless. Type @kept in chat and your full archive grows automatically while you work.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4370832"/>
            <a:ext cx="8366760" cy="457200"/>
          </a:xfrm>
          <a:prstGeom prst="rect">
            <a:avLst/>
          </a:prstGeom>
          <a:solidFill>
            <a:srgbClr val="3C220C"/>
          </a:solidFill>
          <a:ln w="6350">
            <a:solidFill>
              <a:srgbClr val="F483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37083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700" b="1" spc="100" kern="0" dirty="0">
                <a:solidFill>
                  <a:srgbClr val="F483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 EXAMPLE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48640" y="4535424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9A0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 close a Claude chat with a key architectural decision. Two weeks later you need it. Search Kept — found in under a second.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19456"/>
            <a:ext cx="402336" cy="402336"/>
          </a:xfrm>
          <a:prstGeom prst="oval">
            <a:avLst/>
          </a:prstGeom>
          <a:solidFill>
            <a:srgbClr val="3C220C"/>
          </a:solidFill>
          <a:ln w="10160">
            <a:solidFill>
              <a:srgbClr val="F483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194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spc="10" kern="0" dirty="0">
                <a:solidFill>
                  <a:srgbClr val="F483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9264" y="21945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50" b="1" spc="200" kern="0" dirty="0">
                <a:solidFill>
                  <a:srgbClr val="F483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SMART RECALL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969264" y="457200"/>
            <a:ext cx="398678" cy="182880"/>
          </a:xfrm>
          <a:prstGeom prst="rect">
            <a:avLst/>
          </a:prstGeom>
          <a:solidFill>
            <a:srgbClr val="3C220C"/>
          </a:solidFill>
          <a:ln w="12700">
            <a:solidFill>
              <a:srgbClr val="3C22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457200"/>
            <a:ext cx="39867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b="1" spc="7" kern="0" dirty="0">
                <a:solidFill>
                  <a:srgbClr val="F483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84048" y="804672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spc="-96" kern="0" dirty="0">
                <a:solidFill>
                  <a:srgbClr val="C3EC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Ask your archive anything.</a:t>
            </a:r>
            <a:endParaRPr lang="en-US" sz="2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400" spc="-96" kern="0" dirty="0">
                <a:solidFill>
                  <a:srgbClr val="C3EC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Get an answer with citations.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84048" y="1810512"/>
            <a:ext cx="5120640" cy="457200"/>
          </a:xfrm>
          <a:prstGeom prst="rect">
            <a:avLst/>
          </a:prstGeom>
          <a:solidFill>
            <a:srgbClr val="071318"/>
          </a:solidFill>
          <a:ln w="10160">
            <a:solidFill>
              <a:srgbClr val="F483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81051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C3EC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did I decide about the auth layer last month?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" y="2377440"/>
            <a:ext cx="5120640" cy="1298448"/>
          </a:xfrm>
          <a:prstGeom prst="rect">
            <a:avLst/>
          </a:prstGeom>
          <a:solidFill>
            <a:srgbClr val="071318"/>
          </a:solidFill>
          <a:ln w="6350">
            <a:solidFill>
              <a:srgbClr val="19304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2377440"/>
            <a:ext cx="50292" cy="1298448"/>
          </a:xfrm>
          <a:prstGeom prst="rect">
            <a:avLst/>
          </a:prstGeom>
          <a:solidFill>
            <a:srgbClr val="F48322"/>
          </a:solidFill>
          <a:ln w="12700">
            <a:solidFill>
              <a:srgbClr val="F483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450592"/>
            <a:ext cx="48463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72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 decided to use JWT with short expiry + refresh tokens, choosing it over session cookies for statelessness. You noted the trade-off on mobile.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72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Source: Claude  ·  "API Auth Flow"  ·  3 weeks ago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87568" y="1810512"/>
            <a:ext cx="3063240" cy="402336"/>
          </a:xfrm>
          <a:prstGeom prst="rect">
            <a:avLst/>
          </a:prstGeom>
          <a:solidFill>
            <a:srgbClr val="071318"/>
          </a:solidFill>
          <a:ln w="6350">
            <a:solidFill>
              <a:srgbClr val="19304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87568" y="1810512"/>
            <a:ext cx="50292" cy="402336"/>
          </a:xfrm>
          <a:prstGeom prst="rect">
            <a:avLst/>
          </a:prstGeom>
          <a:solidFill>
            <a:srgbClr val="F48322"/>
          </a:solidFill>
          <a:ln w="12700">
            <a:solidFill>
              <a:srgbClr val="F483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33872" y="1810512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72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Semantic search — finds answers without exact words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687568" y="2295144"/>
            <a:ext cx="3063240" cy="402336"/>
          </a:xfrm>
          <a:prstGeom prst="rect">
            <a:avLst/>
          </a:prstGeom>
          <a:solidFill>
            <a:srgbClr val="071318"/>
          </a:solidFill>
          <a:ln w="6350">
            <a:solidFill>
              <a:srgbClr val="19304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87568" y="2295144"/>
            <a:ext cx="50292" cy="402336"/>
          </a:xfrm>
          <a:prstGeom prst="rect">
            <a:avLst/>
          </a:prstGeom>
          <a:solidFill>
            <a:srgbClr val="F9A05C"/>
          </a:solidFill>
          <a:ln w="12700">
            <a:solidFill>
              <a:srgbClr val="F9A0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33872" y="2295144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72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Spans all five platforms in one query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687568" y="2779776"/>
            <a:ext cx="3063240" cy="402336"/>
          </a:xfrm>
          <a:prstGeom prst="rect">
            <a:avLst/>
          </a:prstGeom>
          <a:solidFill>
            <a:srgbClr val="071318"/>
          </a:solidFill>
          <a:ln w="6350">
            <a:solidFill>
              <a:srgbClr val="19304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87568" y="2779776"/>
            <a:ext cx="50292" cy="40233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33872" y="2779776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72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Learns over time — frequently used knowledge surfaces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687568" y="3264408"/>
            <a:ext cx="3063240" cy="402336"/>
          </a:xfrm>
          <a:prstGeom prst="rect">
            <a:avLst/>
          </a:prstGeom>
          <a:solidFill>
            <a:srgbClr val="071318"/>
          </a:solidFill>
          <a:ln w="6350">
            <a:solidFill>
              <a:srgbClr val="19304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87568" y="3264408"/>
            <a:ext cx="50292" cy="40233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33872" y="3264408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72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Outdated facts fade as your archive evolves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687568" y="3749040"/>
            <a:ext cx="3063240" cy="402336"/>
          </a:xfrm>
          <a:prstGeom prst="rect">
            <a:avLst/>
          </a:prstGeom>
          <a:solidFill>
            <a:srgbClr val="071318"/>
          </a:solidFill>
          <a:ln w="6350">
            <a:solidFill>
              <a:srgbClr val="19304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687568" y="3749040"/>
            <a:ext cx="50292" cy="402336"/>
          </a:xfrm>
          <a:prstGeom prst="rect">
            <a:avLst/>
          </a:prstGeom>
          <a:solidFill>
            <a:srgbClr val="F48322"/>
          </a:solidFill>
          <a:ln w="12700">
            <a:solidFill>
              <a:srgbClr val="F483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33872" y="3749040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72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answer includes source citations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0" y="489204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spc="8" kern="0" dirty="0">
                <a:solidFill>
                  <a:srgbClr val="3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Smart Recall is part of Kept Pro  ·  kept.work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19456"/>
            <a:ext cx="402336" cy="402336"/>
          </a:xfrm>
          <a:prstGeom prst="oval">
            <a:avLst/>
          </a:prstGeom>
          <a:solidFill>
            <a:srgbClr val="0C1F28"/>
          </a:solidFill>
          <a:ln w="1016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194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spc="10" kern="0" dirty="0">
                <a:solidFill>
                  <a:srgbClr val="0891B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9264" y="21945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50" b="1" spc="200" kern="0" dirty="0">
                <a:solidFill>
                  <a:srgbClr val="0891B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CLAUDE CODE MANAGER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969264" y="457200"/>
            <a:ext cx="464515" cy="182880"/>
          </a:xfrm>
          <a:prstGeom prst="rect">
            <a:avLst/>
          </a:prstGeom>
          <a:solidFill>
            <a:srgbClr val="0D6B47"/>
          </a:solidFill>
          <a:ln w="12700">
            <a:solidFill>
              <a:srgbClr val="0D6B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457200"/>
            <a:ext cx="46451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b="1" spc="7" kern="0" dirty="0">
                <a:solidFill>
                  <a:srgbClr val="34D3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84048" y="804672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spc="-104" kern="0" dirty="0">
                <a:solidFill>
                  <a:srgbClr val="C3EC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Claude Code project,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spc="-104" kern="0" dirty="0">
                <a:solidFill>
                  <a:srgbClr val="C3EC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one place.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84048" y="16916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5B72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Nothing like this exists anywhere else.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084832"/>
            <a:ext cx="4069080" cy="1243584"/>
          </a:xfrm>
          <a:prstGeom prst="rect">
            <a:avLst/>
          </a:prstGeom>
          <a:solidFill>
            <a:srgbClr val="071318"/>
          </a:solidFill>
          <a:ln w="6350">
            <a:solidFill>
              <a:srgbClr val="19304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084832"/>
            <a:ext cx="50292" cy="12435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1762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spc="-44" kern="0" dirty="0">
                <a:solidFill>
                  <a:srgbClr val="C3EC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Browse all projects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" y="2487168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B72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Claude Code project you have ever worked on, visible in a single unified view.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2084832"/>
            <a:ext cx="4069080" cy="1243584"/>
          </a:xfrm>
          <a:prstGeom prst="rect">
            <a:avLst/>
          </a:prstGeom>
          <a:solidFill>
            <a:srgbClr val="071318"/>
          </a:solidFill>
          <a:ln w="6350">
            <a:solidFill>
              <a:srgbClr val="19304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2084832"/>
            <a:ext cx="50292" cy="12435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3752" y="21762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spc="-44" kern="0" dirty="0">
                <a:solidFill>
                  <a:srgbClr val="C3EC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View instructions, skills, memory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73752" y="2487168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B72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Inspect the full contents of any project without opening VS Code — instructions, skill files, and memory files all in one place.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474720"/>
            <a:ext cx="4069080" cy="1243584"/>
          </a:xfrm>
          <a:prstGeom prst="rect">
            <a:avLst/>
          </a:prstGeom>
          <a:solidFill>
            <a:srgbClr val="071318"/>
          </a:solidFill>
          <a:ln w="6350">
            <a:solidFill>
              <a:srgbClr val="19304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474720"/>
            <a:ext cx="50292" cy="12435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5661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spc="-44" kern="0" dirty="0">
                <a:solidFill>
                  <a:srgbClr val="C3EC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Cross-project skill search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0352" y="3877056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B72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Search for a skill across all your projects and copy it to where you need it in seconds.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3474720"/>
            <a:ext cx="4069080" cy="1243584"/>
          </a:xfrm>
          <a:prstGeom prst="rect">
            <a:avLst/>
          </a:prstGeom>
          <a:solidFill>
            <a:srgbClr val="071318"/>
          </a:solidFill>
          <a:ln w="6350">
            <a:solidFill>
              <a:srgbClr val="19304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3474720"/>
            <a:ext cx="50292" cy="12435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3752" y="35661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spc="-44" kern="0" dirty="0">
                <a:solidFill>
                  <a:srgbClr val="C3EC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Reusable skill bundles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73752" y="3877056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B72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Save sets of skills as templates. Apply them to new projects instantly. Stop rebuilding from scratch.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0" y="489204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spc="8" kern="0" dirty="0">
                <a:solidFill>
                  <a:srgbClr val="3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Claude Code Manager is free and available at beta launch  ·  kept.work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19456"/>
            <a:ext cx="402336" cy="402336"/>
          </a:xfrm>
          <a:prstGeom prst="oval">
            <a:avLst/>
          </a:prstGeom>
          <a:solidFill>
            <a:srgbClr val="3C220C"/>
          </a:solidFill>
          <a:ln w="10160">
            <a:solidFill>
              <a:srgbClr val="F9A0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194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spc="10" kern="0" dirty="0">
                <a:solidFill>
                  <a:srgbClr val="F9A0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9264" y="21945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50" b="1" spc="200" kern="0" dirty="0">
                <a:solidFill>
                  <a:srgbClr val="F9A0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3D KNOWLEDGE GRAPH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969264" y="457200"/>
            <a:ext cx="398678" cy="182880"/>
          </a:xfrm>
          <a:prstGeom prst="rect">
            <a:avLst/>
          </a:prstGeom>
          <a:solidFill>
            <a:srgbClr val="3C220C"/>
          </a:solidFill>
          <a:ln w="12700">
            <a:solidFill>
              <a:srgbClr val="3C22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457200"/>
            <a:ext cx="39867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b="1" spc="7" kern="0" dirty="0">
                <a:solidFill>
                  <a:srgbClr val="F483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84048" y="804672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spc="-76" kern="0" dirty="0">
                <a:solidFill>
                  <a:srgbClr val="C3EC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 your ideas. Every platform.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3931920" y="1828800"/>
            <a:ext cx="1463040" cy="594360"/>
          </a:xfrm>
          <a:prstGeom prst="line">
            <a:avLst/>
          </a:prstGeom>
          <a:noFill/>
          <a:ln w="7620">
            <a:solidFill>
              <a:srgbClr val="193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1920" y="1828800"/>
            <a:ext cx="-182880" cy="1097280"/>
          </a:xfrm>
          <a:prstGeom prst="line">
            <a:avLst/>
          </a:prstGeom>
          <a:noFill/>
          <a:ln w="7620">
            <a:solidFill>
              <a:srgbClr val="193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1828800"/>
            <a:ext cx="-731520" cy="274320"/>
          </a:xfrm>
          <a:prstGeom prst="line">
            <a:avLst/>
          </a:prstGeom>
          <a:noFill/>
          <a:ln w="7620">
            <a:solidFill>
              <a:srgbClr val="1930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94960" y="2423160"/>
            <a:ext cx="548640" cy="-777240"/>
          </a:xfrm>
          <a:prstGeom prst="line">
            <a:avLst/>
          </a:prstGeom>
          <a:noFill/>
          <a:ln w="7620">
            <a:solidFill>
              <a:srgbClr val="193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4960" y="2423160"/>
            <a:ext cx="914400" cy="411480"/>
          </a:xfrm>
          <a:prstGeom prst="line">
            <a:avLst/>
          </a:prstGeom>
          <a:noFill/>
          <a:ln w="7620">
            <a:solidFill>
              <a:srgbClr val="1930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94960" y="2423160"/>
            <a:ext cx="-548640" cy="960120"/>
          </a:xfrm>
          <a:prstGeom prst="line">
            <a:avLst/>
          </a:prstGeom>
          <a:noFill/>
          <a:ln w="7620">
            <a:solidFill>
              <a:srgbClr val="193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0" y="2926080"/>
            <a:ext cx="1097280" cy="457200"/>
          </a:xfrm>
          <a:prstGeom prst="line">
            <a:avLst/>
          </a:prstGeom>
          <a:noFill/>
          <a:ln w="7620">
            <a:solidFill>
              <a:srgbClr val="1930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1645920"/>
            <a:ext cx="731520" cy="457200"/>
          </a:xfrm>
          <a:prstGeom prst="line">
            <a:avLst/>
          </a:prstGeom>
          <a:noFill/>
          <a:ln w="7620">
            <a:solidFill>
              <a:srgbClr val="193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84448" y="1481328"/>
            <a:ext cx="694944" cy="694944"/>
          </a:xfrm>
          <a:prstGeom prst="oval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584448" y="148132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spc="8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Tauri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84064" y="2112264"/>
            <a:ext cx="621792" cy="621792"/>
          </a:xfrm>
          <a:prstGeom prst="oval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84064" y="211226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spc="8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Auth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474720" y="2651760"/>
            <a:ext cx="548640" cy="548640"/>
          </a:xfrm>
          <a:prstGeom prst="oval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7472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50" b="1" spc="7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FTS5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5705856" y="1408176"/>
            <a:ext cx="475488" cy="475488"/>
          </a:xfrm>
          <a:prstGeom prst="oval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05856" y="14081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50" b="1" spc="7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Antal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2980944" y="1883664"/>
            <a:ext cx="438912" cy="438912"/>
          </a:xfrm>
          <a:prstGeom prst="oval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980944" y="18836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50" b="1" spc="7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GTM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6108192" y="2633472"/>
            <a:ext cx="402336" cy="402336"/>
          </a:xfrm>
          <a:prstGeom prst="oval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08192" y="26334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50" b="1" spc="7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Rust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4645152" y="3182112"/>
            <a:ext cx="402336" cy="402336"/>
          </a:xfrm>
          <a:prstGeom prst="oval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645152" y="31821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50" b="1" spc="7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6492240" y="1920240"/>
            <a:ext cx="365760" cy="365760"/>
          </a:xfrm>
          <a:prstGeom prst="oval">
            <a:avLst/>
          </a:prstGeom>
          <a:solidFill>
            <a:srgbClr val="F48322"/>
          </a:solidFill>
          <a:ln w="12700">
            <a:solidFill>
              <a:srgbClr val="F4832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9224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50" b="1" spc="7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Perf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365760" y="1417320"/>
            <a:ext cx="3017520" cy="1005840"/>
          </a:xfrm>
          <a:prstGeom prst="rect">
            <a:avLst/>
          </a:prstGeom>
          <a:solidFill>
            <a:srgbClr val="071318"/>
          </a:solidFill>
          <a:ln w="6350">
            <a:solidFill>
              <a:srgbClr val="19304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1417320"/>
            <a:ext cx="50292" cy="1005840"/>
          </a:xfrm>
          <a:prstGeom prst="rect">
            <a:avLst/>
          </a:prstGeom>
          <a:solidFill>
            <a:srgbClr val="F9A05C"/>
          </a:solidFill>
          <a:ln w="12700">
            <a:solidFill>
              <a:srgbClr val="F9A0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14904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spc="-44" kern="0" dirty="0">
                <a:solidFill>
                  <a:srgbClr val="F9A05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Entity extraction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" y="180136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72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People, projects, technologies, decisions, and facts extracted from every conversation.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2606040"/>
            <a:ext cx="3017520" cy="1005840"/>
          </a:xfrm>
          <a:prstGeom prst="rect">
            <a:avLst/>
          </a:prstGeom>
          <a:solidFill>
            <a:srgbClr val="071318"/>
          </a:solidFill>
          <a:ln w="6350">
            <a:solidFill>
              <a:srgbClr val="19304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65760" y="2606040"/>
            <a:ext cx="50292" cy="1005840"/>
          </a:xfrm>
          <a:prstGeom prst="rect">
            <a:avLst/>
          </a:prstGeom>
          <a:solidFill>
            <a:srgbClr val="F48322"/>
          </a:solidFill>
          <a:ln w="12700">
            <a:solidFill>
              <a:srgbClr val="F483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26791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spc="-44" kern="0" dirty="0">
                <a:solidFill>
                  <a:srgbClr val="F483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Relationship mapping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2920" y="299008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72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Ideas referenced across platforms are connected automatically — no tagging required.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5760" y="3794760"/>
            <a:ext cx="3017520" cy="1005840"/>
          </a:xfrm>
          <a:prstGeom prst="rect">
            <a:avLst/>
          </a:prstGeom>
          <a:solidFill>
            <a:srgbClr val="071318"/>
          </a:solidFill>
          <a:ln w="6350">
            <a:solidFill>
              <a:srgbClr val="19304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65760" y="3794760"/>
            <a:ext cx="50292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38679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spc="-44" kern="0" dirty="0">
                <a:solidFill>
                  <a:srgbClr val="0891B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Arcs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02920" y="417880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72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Related conversations auto-grouped into themes. Nothing stays disconnected. Nothing gets lost.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0" y="489204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spc="8" kern="0" dirty="0">
                <a:solidFill>
                  <a:srgbClr val="3A5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3D Knowledge Graph is part of Kept Pro  ·  kept.work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900" b="1" spc="200" kern="0" dirty="0">
                <a:solidFill>
                  <a:srgbClr val="5B72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FOUR FEATURES. ONE TOOL.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spc="-88" kern="0" dirty="0">
                <a:solidFill>
                  <a:srgbClr val="C3EC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Everything you need. Nothing you don't.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8321040" cy="768096"/>
          </a:xfrm>
          <a:prstGeom prst="rect">
            <a:avLst/>
          </a:prstGeom>
          <a:solidFill>
            <a:srgbClr val="071318"/>
          </a:solidFill>
          <a:ln w="6350">
            <a:solidFill>
              <a:srgbClr val="19304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78992"/>
            <a:ext cx="50292" cy="76809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133856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00" spc="8" kern="0" dirty="0">
                <a:solidFill>
                  <a:srgbClr val="5B72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30352" y="13167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spc="-52" kern="0" dirty="0">
                <a:solidFill>
                  <a:srgbClr val="C3EC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Smart Capture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591056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72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Save any conversation instantly with @kept. Five platforms. Zero friction.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092440" y="1371600"/>
            <a:ext cx="464515" cy="182880"/>
          </a:xfrm>
          <a:prstGeom prst="rect">
            <a:avLst/>
          </a:prstGeom>
          <a:solidFill>
            <a:srgbClr val="0D6B47"/>
          </a:solidFill>
          <a:ln w="12700">
            <a:solidFill>
              <a:srgbClr val="0D6B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371600"/>
            <a:ext cx="46451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b="1" spc="7" kern="0" dirty="0">
                <a:solidFill>
                  <a:srgbClr val="34D3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65760" y="1975104"/>
            <a:ext cx="8321040" cy="768096"/>
          </a:xfrm>
          <a:prstGeom prst="rect">
            <a:avLst/>
          </a:prstGeom>
          <a:solidFill>
            <a:srgbClr val="071318"/>
          </a:solidFill>
          <a:ln w="6350">
            <a:solidFill>
              <a:srgbClr val="19304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975104"/>
            <a:ext cx="50292" cy="768096"/>
          </a:xfrm>
          <a:prstGeom prst="rect">
            <a:avLst/>
          </a:prstGeom>
          <a:solidFill>
            <a:srgbClr val="F48322"/>
          </a:solidFill>
          <a:ln w="12700">
            <a:solidFill>
              <a:srgbClr val="F483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0299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00" spc="8" kern="0" dirty="0">
                <a:solidFill>
                  <a:srgbClr val="5B72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30352" y="22128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spc="-52" kern="0" dirty="0">
                <a:solidFill>
                  <a:srgbClr val="C3EC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Smart Recall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" y="24871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72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Ask your full archive in plain English. Semantic search. Citations included.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092440" y="2267712"/>
            <a:ext cx="398678" cy="182880"/>
          </a:xfrm>
          <a:prstGeom prst="rect">
            <a:avLst/>
          </a:prstGeom>
          <a:solidFill>
            <a:srgbClr val="3C220C"/>
          </a:solidFill>
          <a:ln w="12700">
            <a:solidFill>
              <a:srgbClr val="3C22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92440" y="2267712"/>
            <a:ext cx="39867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b="1" spc="7" kern="0" dirty="0">
                <a:solidFill>
                  <a:srgbClr val="F483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65760" y="2871216"/>
            <a:ext cx="8321040" cy="768096"/>
          </a:xfrm>
          <a:prstGeom prst="rect">
            <a:avLst/>
          </a:prstGeom>
          <a:solidFill>
            <a:srgbClr val="071318"/>
          </a:solidFill>
          <a:ln w="6350">
            <a:solidFill>
              <a:srgbClr val="19304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871216"/>
            <a:ext cx="50292" cy="7680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292608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00" spc="8" kern="0" dirty="0">
                <a:solidFill>
                  <a:srgbClr val="5B72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30352" y="3108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spc="-52" kern="0" dirty="0">
                <a:solidFill>
                  <a:srgbClr val="C3EC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Claude Code Manager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0352" y="338328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72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your Claude Code projects, skills, and memory files in one place.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092440" y="3163824"/>
            <a:ext cx="464515" cy="182880"/>
          </a:xfrm>
          <a:prstGeom prst="rect">
            <a:avLst/>
          </a:prstGeom>
          <a:solidFill>
            <a:srgbClr val="0D6B47"/>
          </a:solidFill>
          <a:ln w="12700">
            <a:solidFill>
              <a:srgbClr val="0D6B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92440" y="3163824"/>
            <a:ext cx="46451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b="1" spc="7" kern="0" dirty="0">
                <a:solidFill>
                  <a:srgbClr val="34D3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65760" y="3767328"/>
            <a:ext cx="8321040" cy="768096"/>
          </a:xfrm>
          <a:prstGeom prst="rect">
            <a:avLst/>
          </a:prstGeom>
          <a:solidFill>
            <a:srgbClr val="071318"/>
          </a:solidFill>
          <a:ln w="6350">
            <a:solidFill>
              <a:srgbClr val="19304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767328"/>
            <a:ext cx="50292" cy="768096"/>
          </a:xfrm>
          <a:prstGeom prst="rect">
            <a:avLst/>
          </a:prstGeom>
          <a:solidFill>
            <a:srgbClr val="F9A05C"/>
          </a:solidFill>
          <a:ln w="12700">
            <a:solidFill>
              <a:srgbClr val="F9A0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382219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00" spc="8" kern="0" dirty="0">
                <a:solidFill>
                  <a:srgbClr val="5B72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30352" y="40050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spc="-52" kern="0" dirty="0">
                <a:solidFill>
                  <a:srgbClr val="C3EC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3D Knowledge Graph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0352" y="427939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72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Entity extraction, Arcs, and a 3D visualization of everything you know.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092440" y="4059936"/>
            <a:ext cx="398678" cy="182880"/>
          </a:xfrm>
          <a:prstGeom prst="rect">
            <a:avLst/>
          </a:prstGeom>
          <a:solidFill>
            <a:srgbClr val="3C220C"/>
          </a:solidFill>
          <a:ln w="12700">
            <a:solidFill>
              <a:srgbClr val="3C220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92440" y="4059936"/>
            <a:ext cx="39867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b="1" spc="7" kern="0" dirty="0">
                <a:solidFill>
                  <a:srgbClr val="F483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0" y="4690872"/>
            <a:ext cx="9144000" cy="347472"/>
          </a:xfrm>
          <a:prstGeom prst="rect">
            <a:avLst/>
          </a:prstGeom>
          <a:solidFill>
            <a:srgbClr val="071318"/>
          </a:solidFill>
          <a:ln w="12700">
            <a:solidFill>
              <a:srgbClr val="19304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690872"/>
            <a:ext cx="9144000" cy="27432"/>
          </a:xfrm>
          <a:prstGeom prst="rect">
            <a:avLst/>
          </a:prstGeom>
          <a:solidFill>
            <a:srgbClr val="F48322"/>
          </a:solidFill>
          <a:ln w="12700">
            <a:solidFill>
              <a:srgbClr val="F4832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0" y="4690872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72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 xml:space="preserve">Free forever  ·  Open source  ·  Local-first  ·  No account required  ·  </a:t>
            </a:r>
            <a:pPr algn="ctr" indent="0" marL="0">
              <a:buNone/>
            </a:pPr>
            <a:r>
              <a:rPr lang="en-US" sz="1000" b="1" dirty="0">
                <a:solidFill>
                  <a:srgbClr val="F483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kept.work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ivacy Commitment">
    <p:bg>
      <p:bgPr>
        <a:solidFill>
          <a:srgbClr val="02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48322"/>
          </a:solidFill>
        </p:spPr>
      </p:sp>
      <p:sp>
        <p:nvSpPr>
          <p:cNvPr id="3" name="Eyebrow"/>
          <p:cNvSpPr/>
          <p:nvPr/>
        </p:nvSpPr>
        <p:spPr>
          <a:xfrm>
            <a:off x="457200" y="228600"/>
            <a:ext cx="4000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spc="200" kern="0" dirty="0">
                <a:solidFill>
                  <a:srgbClr val="F48322"/>
                </a:solidFill>
                <a:latin typeface="DM Sans" pitchFamily="34" charset="0"/>
              </a:rPr>
              <a:t>PRIVACY COMMITMENT</a:t>
            </a:r>
          </a:p>
        </p:txBody>
      </p:sp>
      <p:sp>
        <p:nvSpPr>
          <p:cNvPr id="4" name="Headline"/>
          <p:cNvSpPr/>
          <p:nvPr/>
        </p:nvSpPr>
        <p:spPr>
          <a:xfrm>
            <a:off x="457200" y="48006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spc="-200" kern="0" dirty="0">
                <a:solidFill>
                  <a:srgbClr val="C3ECFF"/>
                </a:solidFill>
                <a:latin typeface="DM Sans" pitchFamily="34" charset="0"/>
              </a:rPr>
              <a:t xml:space="preserve">We log usage. </a:t>
            </a:r>
            <a:r>
              <a:rPr lang="en-US" sz="3600" b="1" spc="-200" kern="0" dirty="0">
                <a:solidFill>
                  <a:srgbClr val="F48322"/>
                </a:solidFill>
                <a:latin typeface="DM Sans" pitchFamily="34" charset="0"/>
              </a:rPr>
              <a:t>Never conversations.</a:t>
            </a:r>
          </a:p>
        </p:txBody>
      </p:sp>
      <p:sp>
        <p:nvSpPr>
          <p:cNvPr id="5" name="Divider"/>
          <p:cNvSpPr/>
          <p:nvPr/>
        </p:nvSpPr>
        <p:spPr>
          <a:xfrm>
            <a:off x="457200" y="1440000"/>
            <a:ext cx="8229600" cy="18288"/>
          </a:xfrm>
          <a:prstGeom prst="rect">
            <a:avLst/>
          </a:prstGeom>
          <a:solidFill>
            <a:srgbClr val="0F2730"/>
          </a:solidFill>
        </p:spPr>
      </p:sp>
      <p:sp>
        <p:nvSpPr>
          <p:cNvPr id="6" name="LeftCard"/>
          <p:cNvSpPr/>
          <p:nvPr/>
        </p:nvSpPr>
        <p:spPr>
          <a:xfrm>
            <a:off x="457200" y="1524000"/>
            <a:ext cx="3886200" cy="3009600"/>
          </a:xfrm>
          <a:prstGeom prst="rect">
            <a:avLst/>
          </a:prstGeom>
          <a:solidFill>
            <a:srgbClr val="040E12"/>
          </a:solidFill>
          <a:ln w="6350">
            <a:solidFill>
              <a:srgbClr val="0F2730"/>
            </a:solidFill>
          </a:ln>
        </p:spPr>
      </p:sp>
      <p:sp>
        <p:nvSpPr>
          <p:cNvPr id="7" name="LeftLabel"/>
          <p:cNvSpPr/>
          <p:nvPr/>
        </p:nvSpPr>
        <p:spPr>
          <a:xfrm>
            <a:off x="571500" y="1600200"/>
            <a:ext cx="3657600" cy="2667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spc="200" kern="0" dirty="0">
                <a:solidFill>
                  <a:srgbClr val="7AACBF"/>
                </a:solidFill>
                <a:latin typeface="DM Sans" pitchFamily="34" charset="0"/>
              </a:rPr>
              <a:t>WHAT WE DO LOG</a:t>
            </a:r>
          </a:p>
        </p:txBody>
      </p:sp>
      <p:sp>
        <p:nvSpPr>
          <p:cNvPr id="8" name="LeftContent"/>
          <p:cNvSpPr/>
          <p:nvPr/>
        </p:nvSpPr>
        <p:spPr>
          <a:xfrm>
            <a:off x="571500" y="1920000"/>
            <a:ext cx="3657600" cy="2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indent="0" marL="228600">
              <a:lnSpc>
                <a:spcPct val="140000"/>
              </a:lnSpc>
              <a:buChar char="•"/>
            </a:pPr>
            <a:r>
              <a:rPr lang="en-US" sz="1300" dirty="0">
                <a:solidFill>
                  <a:srgbClr val="7AACBF"/>
                </a:solidFill>
                <a:latin typeface="DM Sans" pitchFamily="34" charset="0"/>
              </a:rPr>
              <a:t>Feature usage analytics</a:t>
            </a:r>
          </a:p>
          <a:p>
            <a:pPr indent="0" marL="228600">
              <a:lnSpc>
                <a:spcPct val="140000"/>
              </a:lnSpc>
              <a:buChar char="•"/>
            </a:pPr>
            <a:r>
              <a:rPr lang="en-US" sz="1300" dirty="0">
                <a:solidFill>
                  <a:srgbClr val="7AACBF"/>
                </a:solidFill>
                <a:latin typeface="DM Sans" pitchFamily="34" charset="0"/>
              </a:rPr>
              <a:t>How often features are used</a:t>
            </a:r>
          </a:p>
          <a:p>
            <a:pPr indent="0" marL="228600">
              <a:lnSpc>
                <a:spcPct val="140000"/>
              </a:lnSpc>
              <a:buChar char="•"/>
            </a:pPr>
            <a:r>
              <a:rPr lang="en-US" sz="1300" dirty="0">
                <a:solidFill>
                  <a:srgbClr val="7AACBF"/>
                </a:solidFill>
                <a:latin typeface="DM Sans" pitchFamily="34" charset="0"/>
              </a:rPr>
              <a:t>Crash reports and error diagnostics</a:t>
            </a:r>
          </a:p>
          <a:p>
            <a:pPr indent="0" marL="228600">
              <a:lnSpc>
                <a:spcPct val="140000"/>
              </a:lnSpc>
              <a:buChar char="•"/>
            </a:pPr>
            <a:r>
              <a:rPr lang="en-US" sz="1300" dirty="0">
                <a:solidFill>
                  <a:srgbClr val="7AACBF"/>
                </a:solidFill>
                <a:latin typeface="DM Sans" pitchFamily="34" charset="0"/>
              </a:rPr>
              <a:t>App performance metrics</a:t>
            </a:r>
          </a:p>
          <a:p>
            <a:pPr indent="0" marL="0">
              <a:lnSpc>
                <a:spcPct val="100000"/>
              </a:lnSpc>
              <a:buNone/>
              <a:spcBef>
                <a:spcPts val="800"/>
              </a:spcBef>
            </a:pPr>
            <a:r>
              <a:rPr lang="en-US" sz="1000" dirty="0">
                <a:solidFill>
                  <a:srgbClr val="5B727C"/>
                </a:solidFill>
                <a:latin typeface="DM Sans" pitchFamily="34" charset="0"/>
              </a:rPr>
              <a:t>This helps us fix bugs and improve the product.</a:t>
            </a:r>
          </a:p>
        </p:txBody>
      </p:sp>
      <p:sp>
        <p:nvSpPr>
          <p:cNvPr id="9" name="RightCard"/>
          <p:cNvSpPr/>
          <p:nvPr/>
        </p:nvSpPr>
        <p:spPr>
          <a:xfrm>
            <a:off x="4800600" y="1524000"/>
            <a:ext cx="3886200" cy="3009600"/>
          </a:xfrm>
          <a:prstGeom prst="rect">
            <a:avLst/>
          </a:prstGeom>
          <a:solidFill>
            <a:srgbClr val="0A1A20"/>
          </a:solidFill>
          <a:ln w="9525">
            <a:solidFill>
              <a:srgbClr val="F48322"/>
            </a:solidFill>
          </a:ln>
        </p:spPr>
      </p:sp>
      <p:sp>
        <p:nvSpPr>
          <p:cNvPr id="10" name="RightLabel"/>
          <p:cNvSpPr/>
          <p:nvPr/>
        </p:nvSpPr>
        <p:spPr>
          <a:xfrm>
            <a:off x="4914900" y="1600200"/>
            <a:ext cx="3657600" cy="2667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spc="200" kern="0" dirty="0">
                <a:solidFill>
                  <a:srgbClr val="F48322"/>
                </a:solidFill>
                <a:latin typeface="DM Sans" pitchFamily="34" charset="0"/>
              </a:rPr>
              <a:t>WHAT WE NEVER LOG</a:t>
            </a:r>
          </a:p>
        </p:txBody>
      </p:sp>
      <p:sp>
        <p:nvSpPr>
          <p:cNvPr id="11" name="RightContent"/>
          <p:cNvSpPr/>
          <p:nvPr/>
        </p:nvSpPr>
        <p:spPr>
          <a:xfrm>
            <a:off x="4914900" y="1920000"/>
            <a:ext cx="3657600" cy="2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indent="0" marL="228600">
              <a:lnSpc>
                <a:spcPct val="140000"/>
              </a:lnSpc>
              <a:buChar char="•"/>
            </a:pPr>
            <a:r>
              <a:rPr lang="en-US" sz="1150" b="1" dirty="0">
                <a:solidFill>
                  <a:srgbClr val="C3ECFF"/>
                </a:solidFill>
                <a:latin typeface="DM Sans" pitchFamily="34" charset="0"/>
              </a:rPr>
              <a:t>The content of your conversations</a:t>
            </a:r>
          </a:p>
          <a:p>
            <a:pPr indent="0" marL="228600">
              <a:lnSpc>
                <a:spcPct val="140000"/>
              </a:lnSpc>
              <a:buChar char="•"/>
            </a:pPr>
            <a:r>
              <a:rPr lang="en-US" sz="1150" b="1" dirty="0">
                <a:solidFill>
                  <a:srgbClr val="C3ECFF"/>
                </a:solidFill>
                <a:latin typeface="DM Sans" pitchFamily="34" charset="0"/>
              </a:rPr>
              <a:t>Your questions or prompts</a:t>
            </a:r>
          </a:p>
          <a:p>
            <a:pPr indent="0" marL="228600">
              <a:lnSpc>
                <a:spcPct val="140000"/>
              </a:lnSpc>
              <a:buChar char="•"/>
            </a:pPr>
            <a:r>
              <a:rPr lang="en-US" sz="1150" b="1" dirty="0">
                <a:solidFill>
                  <a:srgbClr val="C3ECFF"/>
                </a:solidFill>
                <a:latin typeface="DM Sans" pitchFamily="34" charset="0"/>
              </a:rPr>
              <a:t>AI responses or outputs</a:t>
            </a:r>
          </a:p>
          <a:p>
            <a:pPr indent="0" marL="228600">
              <a:lnSpc>
                <a:spcPct val="140000"/>
              </a:lnSpc>
              <a:buChar char="•"/>
            </a:pPr>
            <a:r>
              <a:rPr lang="en-US" sz="1150" b="1" dirty="0">
                <a:solidFill>
                  <a:srgbClr val="C3ECFF"/>
                </a:solidFill>
                <a:latin typeface="DM Sans" pitchFamily="34" charset="0"/>
              </a:rPr>
              <a:t>Any text you type or paste</a:t>
            </a:r>
          </a:p>
          <a:p>
            <a:pPr indent="0" marL="228600">
              <a:lnSpc>
                <a:spcPct val="140000"/>
              </a:lnSpc>
              <a:buChar char="•"/>
            </a:pPr>
            <a:r>
              <a:rPr lang="en-US" sz="1150" b="1" dirty="0">
                <a:solidFill>
                  <a:srgbClr val="C3ECFF"/>
                </a:solidFill>
                <a:latin typeface="DM Sans" pitchFamily="34" charset="0"/>
              </a:rPr>
              <a:t>Your archive and knowledge graph</a:t>
            </a:r>
          </a:p>
          <a:p>
            <a:pPr indent="0" marL="0">
              <a:lnSpc>
                <a:spcPct val="100000"/>
              </a:lnSpc>
              <a:buNone/>
              <a:spcBef>
                <a:spcPts val="800"/>
              </a:spcBef>
            </a:pPr>
            <a:r>
              <a:rPr lang="en-US" sz="1000" dirty="0">
                <a:solidFill>
                  <a:srgbClr val="D4711A"/>
                </a:solidFill>
                <a:latin typeface="DM Sans" pitchFamily="34" charset="0"/>
              </a:rPr>
              <a:t>This data never leaves your machine.</a:t>
            </a:r>
          </a:p>
        </p:txBody>
      </p:sp>
      <p:sp>
        <p:nvSpPr>
          <p:cNvPr id="12" name="BottomBar"/>
          <p:cNvSpPr/>
          <p:nvPr/>
        </p:nvSpPr>
        <p:spPr>
          <a:xfrm>
            <a:off x="457200" y="4648200"/>
            <a:ext cx="8229600" cy="320040"/>
          </a:xfrm>
          <a:prstGeom prst="rect">
            <a:avLst/>
          </a:prstGeom>
          <a:solidFill>
            <a:srgbClr val="071318"/>
          </a:solidFill>
          <a:ln w="6350">
            <a:solidFill>
              <a:srgbClr val="0F2730"/>
            </a:solidFill>
          </a:ln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3ECFF"/>
                </a:solidFill>
                <a:latin typeface="DM Sans" pitchFamily="34" charset="0"/>
              </a:rPr>
              <a:t xml:space="preserve">Your conversations stay on your machine. Always.  </a:t>
            </a:r>
            <a:r>
              <a:rPr lang="en-US" sz="1100" dirty="0">
                <a:solidFill>
                  <a:srgbClr val="3A5560"/>
                </a:solidFill>
                <a:latin typeface="DM Sans" pitchFamily="34" charset="0"/>
              </a:rPr>
              <a:t>kept.work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Kept — Features v4</dc:title>
  <dc:subject>PptxGenJS Presentation</dc:subject>
  <dc:creator>E-Group Labs</dc:creator>
  <cp:lastModifiedBy>E-Group Labs</cp:lastModifiedBy>
  <cp:revision>1</cp:revision>
  <dcterms:created xsi:type="dcterms:W3CDTF">2026-03-16T16:35:36Z</dcterms:created>
  <dcterms:modified xsi:type="dcterms:W3CDTF">2026-03-16T16:35:36Z</dcterms:modified>
</cp:coreProperties>
</file>